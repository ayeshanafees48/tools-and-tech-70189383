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75" r:id="rId4"/>
    <p:sldId id="276" r:id="rId5"/>
    <p:sldId id="277" r:id="rId6"/>
    <p:sldId id="278" r:id="rId7"/>
    <p:sldId id="279" r:id="rId8"/>
    <p:sldId id="264" r:id="rId9"/>
    <p:sldId id="280" r:id="rId10"/>
    <p:sldId id="281" r:id="rId11"/>
    <p:sldId id="260" r:id="rId12"/>
    <p:sldId id="282" r:id="rId13"/>
    <p:sldId id="271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6D"/>
    <a:srgbClr val="9EFF29"/>
    <a:srgbClr val="003635"/>
    <a:srgbClr val="C80064"/>
    <a:srgbClr val="C33A1F"/>
    <a:srgbClr val="0000CC"/>
    <a:srgbClr val="FF2549"/>
    <a:srgbClr val="007033"/>
    <a:srgbClr val="D6370C"/>
    <a:srgbClr val="1D3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0" y="-11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7703" y="1784556"/>
            <a:ext cx="8229600" cy="1688688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0328" y="3694468"/>
            <a:ext cx="8229600" cy="678426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7" y="224337"/>
            <a:ext cx="8259098" cy="763526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312606"/>
            <a:ext cx="8246070" cy="3465870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2106" y="406537"/>
            <a:ext cx="6283782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9238" y="1268361"/>
            <a:ext cx="6304935" cy="3420136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692" y="271648"/>
            <a:ext cx="8093365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131" y="1655517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131" y="2127914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7252" y="1655517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7252" y="2127914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7472" y="1634835"/>
            <a:ext cx="8116528" cy="1879524"/>
          </a:xfrm>
        </p:spPr>
        <p:txBody>
          <a:bodyPr>
            <a:normAutofit/>
          </a:bodyPr>
          <a:lstStyle/>
          <a:p>
            <a:r>
              <a:rPr lang="en-US" sz="2000" b="1" dirty="0"/>
              <a:t>Project Name: </a:t>
            </a:r>
            <a:r>
              <a:rPr lang="en-US" sz="1800" b="1" dirty="0"/>
              <a:t>REVENUE GENERATION ANALYSIS </a:t>
            </a:r>
            <a:br>
              <a:rPr lang="en-US" sz="1800" b="1" dirty="0"/>
            </a:br>
            <a:r>
              <a:rPr lang="en-US" sz="1800" b="1" dirty="0"/>
              <a:t>ON E-COMMERCE WEBSITE</a:t>
            </a:r>
            <a:br>
              <a:rPr lang="en-US" sz="2000" b="1" dirty="0"/>
            </a:br>
            <a:r>
              <a:rPr lang="en-US" sz="2000" b="1" dirty="0"/>
              <a:t>by</a:t>
            </a:r>
            <a:br>
              <a:rPr lang="en-US" sz="2000" b="1" dirty="0"/>
            </a:br>
            <a:r>
              <a:rPr lang="en-US" sz="2000" b="1" dirty="0"/>
              <a:t>Student Name: Ayesha Nafis</a:t>
            </a:r>
            <a:br>
              <a:rPr lang="en-US" sz="2000" b="1" dirty="0"/>
            </a:br>
            <a:r>
              <a:rPr lang="en-US" sz="2000" b="1" dirty="0"/>
              <a:t>SAP ID: 70189383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22110" y="3514359"/>
            <a:ext cx="8229600" cy="678426"/>
          </a:xfrm>
        </p:spPr>
        <p:txBody>
          <a:bodyPr>
            <a:normAutofit/>
          </a:bodyPr>
          <a:lstStyle/>
          <a:p>
            <a:r>
              <a:rPr lang="en-US" b="1" dirty="0"/>
              <a:t>Tools and Techniques 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Project Introduction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080655"/>
            <a:ext cx="6422253" cy="393469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/>
              <a:t>To predict an e-commerce website generates revenue or not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/>
              <a:t>Based on browsing behavior and session characteristics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Use machine learning algorithms for prediction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 dirty="0"/>
              <a:t>Target Variable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/>
              <a:t>Revenue (True/False)</a:t>
            </a:r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54F95-E512-441E-9262-79866A8C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Project Objective</a:t>
            </a:r>
            <a:endParaRPr lang="aa-ET" b="1" dirty="0">
              <a:effectLst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1C8848-1377-4435-BED2-BEA668C15F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92106" y="1229921"/>
            <a:ext cx="492461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a-ET" altLang="aa-E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Analyze customer browsing behavior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a-ET" altLang="aa-E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 data preprocessing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a-ET" altLang="aa-E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 new features using feature engineering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a-ET" altLang="aa-E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 multiple machine learning models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a-ET" altLang="aa-E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Compare model performance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a-ET" altLang="aa-E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Select the best model for revenue prediction </a:t>
            </a:r>
          </a:p>
        </p:txBody>
      </p:sp>
    </p:spTree>
    <p:extLst>
      <p:ext uri="{BB962C8B-B14F-4D97-AF65-F5344CB8AC3E}">
        <p14:creationId xmlns:p14="http://schemas.microsoft.com/office/powerpoint/2010/main" val="3860874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6E4B8-3450-4337-9EBA-922B37C25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Dataset Overview</a:t>
            </a:r>
            <a:endParaRPr lang="aa-ET" b="1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14484-4057-4F3C-941F-CBF899758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238" y="1268360"/>
            <a:ext cx="6304935" cy="3875139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 dirty="0"/>
              <a:t>Dataset:</a:t>
            </a:r>
            <a:r>
              <a:rPr lang="en-US" dirty="0"/>
              <a:t> 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/>
              <a:t>E-Commerce Revenue Dataset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Total Records: 12,205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Original Features: 42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Target Variable: Revenue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 dirty="0"/>
              <a:t>Data Types</a:t>
            </a:r>
            <a:endParaRPr lang="en-US" dirty="0"/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Numerical Features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Categorical Features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Binary Target Variable 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aa-ET" dirty="0"/>
          </a:p>
        </p:txBody>
      </p:sp>
    </p:spTree>
    <p:extLst>
      <p:ext uri="{BB962C8B-B14F-4D97-AF65-F5344CB8AC3E}">
        <p14:creationId xmlns:p14="http://schemas.microsoft.com/office/powerpoint/2010/main" val="1422741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08B87-5E7A-4B77-BA31-C57541890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Data Preprocessing</a:t>
            </a:r>
            <a:endParaRPr lang="aa-ET" b="1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0ACB2-4450-44C0-BD52-989CD2680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238" y="1046018"/>
            <a:ext cx="6304935" cy="4097481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1400" b="1" dirty="0"/>
              <a:t>Performed Tasks</a:t>
            </a:r>
            <a:endParaRPr lang="en-US" sz="1400" dirty="0"/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Missing Value Handling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Typo and spelling errors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Outlier Analysis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Encoding Categorical Features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Feature Scaling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Correlation Analysis 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1400" b="1" dirty="0"/>
              <a:t>Benefits</a:t>
            </a:r>
            <a:endParaRPr lang="en-US" sz="1400" dirty="0"/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Improved data quality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Reduced noise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Better model performance</a:t>
            </a:r>
          </a:p>
          <a:p>
            <a:endParaRPr lang="aa-ET" sz="1400" dirty="0"/>
          </a:p>
        </p:txBody>
      </p:sp>
    </p:spTree>
    <p:extLst>
      <p:ext uri="{BB962C8B-B14F-4D97-AF65-F5344CB8AC3E}">
        <p14:creationId xmlns:p14="http://schemas.microsoft.com/office/powerpoint/2010/main" val="2094547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3A58-8302-49FB-A6A6-A6509D734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Exploratory Data Analysis (EDA)</a:t>
            </a:r>
            <a:endParaRPr lang="aa-ET" b="1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D0C17-930F-44FD-BD36-A23FE9A07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238" y="1131886"/>
            <a:ext cx="6304935" cy="4011613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1500" b="1" dirty="0"/>
              <a:t>Visualizations Used</a:t>
            </a:r>
            <a:endParaRPr lang="en-US" sz="1500" dirty="0"/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Revenue Distribution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Histograms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Box Plots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Correlation Heatmap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Visitor Type Analysis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Monthly Revenue Analysis 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1500" b="1" dirty="0"/>
              <a:t>Key Insight</a:t>
            </a:r>
            <a:endParaRPr lang="en-US" sz="1500" dirty="0"/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Revenue-generating customers are fewer than non-revenue customers.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aa-ET" sz="1500" dirty="0"/>
          </a:p>
        </p:txBody>
      </p:sp>
    </p:spTree>
    <p:extLst>
      <p:ext uri="{BB962C8B-B14F-4D97-AF65-F5344CB8AC3E}">
        <p14:creationId xmlns:p14="http://schemas.microsoft.com/office/powerpoint/2010/main" val="710461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8CD62-090E-4EEB-B3DD-3E017DD69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Feature Engineering</a:t>
            </a:r>
            <a:endParaRPr lang="aa-ET" b="1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1E89D-A91A-4077-8258-1BD954218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238" y="1080655"/>
            <a:ext cx="6304935" cy="4062845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3300" b="1" dirty="0"/>
              <a:t>Custom Features Created</a:t>
            </a:r>
            <a:endParaRPr lang="en-US" sz="3300" dirty="0"/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300" dirty="0" err="1"/>
              <a:t>Total_Time</a:t>
            </a:r>
            <a:r>
              <a:rPr lang="en-US" sz="3300" dirty="0"/>
              <a:t>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300" dirty="0" err="1"/>
              <a:t>Total_Pages</a:t>
            </a:r>
            <a:r>
              <a:rPr lang="en-US" sz="3300" dirty="0"/>
              <a:t>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300" dirty="0" err="1"/>
              <a:t>Engagement_Ratio</a:t>
            </a:r>
            <a:r>
              <a:rPr lang="en-US" sz="3300" dirty="0"/>
              <a:t>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300" dirty="0" err="1"/>
              <a:t>Value_Per_Page</a:t>
            </a:r>
            <a:r>
              <a:rPr lang="en-US" sz="3300" dirty="0"/>
              <a:t> 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3300" b="1" dirty="0"/>
              <a:t>Binning Features</a:t>
            </a:r>
            <a:endParaRPr lang="en-US" sz="3300" dirty="0"/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300" dirty="0" err="1"/>
              <a:t>ProductRelated_Duration_Bin</a:t>
            </a:r>
            <a:r>
              <a:rPr lang="en-US" sz="3300" dirty="0"/>
              <a:t>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300" dirty="0" err="1"/>
              <a:t>BounceRates_Bin</a:t>
            </a:r>
            <a:r>
              <a:rPr lang="en-US" sz="3300" dirty="0"/>
              <a:t> 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3300" b="1" dirty="0"/>
              <a:t>Advanced Features</a:t>
            </a:r>
            <a:endParaRPr lang="en-US" sz="3300" dirty="0"/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300" dirty="0"/>
              <a:t>Polynomial Features (Degree = 2)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aa-ET" dirty="0"/>
          </a:p>
        </p:txBody>
      </p:sp>
    </p:spTree>
    <p:extLst>
      <p:ext uri="{BB962C8B-B14F-4D97-AF65-F5344CB8AC3E}">
        <p14:creationId xmlns:p14="http://schemas.microsoft.com/office/powerpoint/2010/main" val="1666417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2106" y="136372"/>
            <a:ext cx="6283782" cy="725349"/>
          </a:xfrm>
        </p:spPr>
        <p:txBody>
          <a:bodyPr/>
          <a:lstStyle/>
          <a:p>
            <a:r>
              <a:rPr lang="en-US" b="1" dirty="0">
                <a:effectLst/>
              </a:rPr>
              <a:t>Pipeline of the Project</a:t>
            </a:r>
          </a:p>
        </p:txBody>
      </p:sp>
      <p:pic>
        <p:nvPicPr>
          <p:cNvPr id="7" name="Content Placeholder 6" descr="A diagram of a sales funnel&#10;&#10;Description automatically generated with medium confidence">
            <a:extLst>
              <a:ext uri="{FF2B5EF4-FFF2-40B4-BE49-F238E27FC236}">
                <a16:creationId xmlns:a16="http://schemas.microsoft.com/office/drawing/2014/main" id="{163CFF65-DB6F-4EAD-990B-279871FCE5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637" y="861722"/>
            <a:ext cx="7204364" cy="4281778"/>
          </a:xfrm>
        </p:spPr>
      </p:pic>
    </p:spTree>
    <p:extLst>
      <p:ext uri="{BB962C8B-B14F-4D97-AF65-F5344CB8AC3E}">
        <p14:creationId xmlns:p14="http://schemas.microsoft.com/office/powerpoint/2010/main" val="3732636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6A351-0C1F-47DC-B099-EE07DA57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Feature Selection</a:t>
            </a:r>
            <a:endParaRPr lang="aa-ET" b="1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0C2DA-882D-4A88-BDDB-CA1864CB3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238" y="1268360"/>
            <a:ext cx="6304935" cy="3875139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 dirty="0"/>
              <a:t>Techniques Used</a:t>
            </a:r>
            <a:endParaRPr lang="en-US" dirty="0"/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Variance Threshold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Correlation Filter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Recursive Feature Elimination (RFE) 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 dirty="0"/>
              <a:t>Benefits</a:t>
            </a:r>
            <a:endParaRPr lang="en-US" dirty="0"/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Removed irrelevant features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Reduced dimensionality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Improved model efficiency 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aa-ET" dirty="0"/>
          </a:p>
        </p:txBody>
      </p:sp>
    </p:spTree>
    <p:extLst>
      <p:ext uri="{BB962C8B-B14F-4D97-AF65-F5344CB8AC3E}">
        <p14:creationId xmlns:p14="http://schemas.microsoft.com/office/powerpoint/2010/main" val="2599990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9C26C-573C-4563-A21F-C31B9DC46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Machine Learning Models</a:t>
            </a:r>
            <a:endParaRPr lang="aa-ET" b="1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628C8-7E24-4501-8EF6-E9BFB6AB7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238" y="1059874"/>
            <a:ext cx="6304935" cy="4083626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1800" b="1" dirty="0"/>
              <a:t>Models Applied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Logistic Regression </a:t>
            </a:r>
          </a:p>
          <a:p>
            <a:pPr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Gaussian Naive Bayes </a:t>
            </a:r>
          </a:p>
          <a:p>
            <a:pPr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Decision Tree </a:t>
            </a:r>
          </a:p>
          <a:p>
            <a:pPr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Random Forest 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1800" b="1" dirty="0"/>
              <a:t>Validation Technique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5-Fold Cross Validation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endParaRPr lang="aa-ET" sz="1800" dirty="0"/>
          </a:p>
        </p:txBody>
      </p:sp>
    </p:spTree>
    <p:extLst>
      <p:ext uri="{BB962C8B-B14F-4D97-AF65-F5344CB8AC3E}">
        <p14:creationId xmlns:p14="http://schemas.microsoft.com/office/powerpoint/2010/main" val="1546529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8566" y="443450"/>
            <a:ext cx="6283782" cy="72534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  <a:effectLst/>
              </a:rPr>
              <a:t>Results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4D8322-7E94-43B3-B9CF-E8142FA2E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851765"/>
              </p:ext>
            </p:extLst>
          </p:nvPr>
        </p:nvGraphicFramePr>
        <p:xfrm>
          <a:off x="2392106" y="1778842"/>
          <a:ext cx="5506085" cy="11274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7345">
                  <a:extLst>
                    <a:ext uri="{9D8B030D-6E8A-4147-A177-3AD203B41FA5}">
                      <a16:colId xmlns:a16="http://schemas.microsoft.com/office/drawing/2014/main" val="1290080269"/>
                    </a:ext>
                  </a:extLst>
                </a:gridCol>
                <a:gridCol w="989965">
                  <a:extLst>
                    <a:ext uri="{9D8B030D-6E8A-4147-A177-3AD203B41FA5}">
                      <a16:colId xmlns:a16="http://schemas.microsoft.com/office/drawing/2014/main" val="2766355353"/>
                    </a:ext>
                  </a:extLst>
                </a:gridCol>
                <a:gridCol w="989965">
                  <a:extLst>
                    <a:ext uri="{9D8B030D-6E8A-4147-A177-3AD203B41FA5}">
                      <a16:colId xmlns:a16="http://schemas.microsoft.com/office/drawing/2014/main" val="3620302772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145459438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010647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100" dirty="0">
                          <a:effectLst/>
                        </a:rPr>
                        <a:t>Model</a:t>
                      </a:r>
                      <a:endParaRPr lang="en-PK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Accuracy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Precision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Recall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F1-Score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9602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L</a:t>
                      </a:r>
                      <a:r>
                        <a:rPr lang="en-PK" sz="1100">
                          <a:effectLst/>
                        </a:rPr>
                        <a:t>ogistic Regression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100">
                          <a:effectLst/>
                        </a:rPr>
                        <a:t>0.6313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100">
                          <a:effectLst/>
                        </a:rPr>
                        <a:t>0.6313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100">
                          <a:effectLst/>
                        </a:rPr>
                        <a:t>0.6313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100">
                          <a:effectLst/>
                        </a:rPr>
                        <a:t>0.6313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2562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PK" sz="1100">
                          <a:effectLst/>
                        </a:rPr>
                        <a:t>Gaussian Naive Bayes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100">
                          <a:effectLst/>
                        </a:rPr>
                        <a:t>0.5539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100">
                          <a:effectLst/>
                        </a:rPr>
                        <a:t>0.5539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100">
                          <a:effectLst/>
                        </a:rPr>
                        <a:t>0.5539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100">
                          <a:effectLst/>
                        </a:rPr>
                        <a:t>0.5539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1556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100">
                          <a:effectLst/>
                        </a:rPr>
                        <a:t>Decision Tree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100">
                          <a:effectLst/>
                        </a:rPr>
                        <a:t>0.7206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100">
                          <a:effectLst/>
                        </a:rPr>
                        <a:t>0.7206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100">
                          <a:effectLst/>
                        </a:rPr>
                        <a:t>0.7206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100">
                          <a:effectLst/>
                        </a:rPr>
                        <a:t>0.7206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8810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Random Forest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100">
                          <a:effectLst/>
                        </a:rPr>
                        <a:t>0.7522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100">
                          <a:effectLst/>
                        </a:rPr>
                        <a:t>0.7522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100">
                          <a:effectLst/>
                        </a:rPr>
                        <a:t>0.7522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100" dirty="0">
                          <a:effectLst/>
                        </a:rPr>
                        <a:t>0.7522</a:t>
                      </a:r>
                      <a:endParaRPr lang="en-PK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57071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383131-2088-4AC1-9095-A5546D85B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604388"/>
              </p:ext>
            </p:extLst>
          </p:nvPr>
        </p:nvGraphicFramePr>
        <p:xfrm>
          <a:off x="2392106" y="3476658"/>
          <a:ext cx="3417570" cy="12299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97050">
                  <a:extLst>
                    <a:ext uri="{9D8B030D-6E8A-4147-A177-3AD203B41FA5}">
                      <a16:colId xmlns:a16="http://schemas.microsoft.com/office/drawing/2014/main" val="983966628"/>
                    </a:ext>
                  </a:extLst>
                </a:gridCol>
                <a:gridCol w="1620520">
                  <a:extLst>
                    <a:ext uri="{9D8B030D-6E8A-4147-A177-3AD203B41FA5}">
                      <a16:colId xmlns:a16="http://schemas.microsoft.com/office/drawing/2014/main" val="17084786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200" dirty="0">
                          <a:effectLst/>
                        </a:rPr>
                        <a:t>Model</a:t>
                      </a:r>
                      <a:endParaRPr lang="en-PK" sz="11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200">
                          <a:effectLst/>
                        </a:rPr>
                        <a:t>Mean Recall</a:t>
                      </a:r>
                      <a:endParaRPr lang="en-PK" sz="11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5610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200">
                          <a:effectLst/>
                        </a:rPr>
                        <a:t>Logistic Regression</a:t>
                      </a:r>
                      <a:endParaRPr lang="en-PK" sz="11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200">
                          <a:effectLst/>
                        </a:rPr>
                        <a:t>0.7537</a:t>
                      </a:r>
                      <a:endParaRPr lang="en-PK" sz="11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7501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200">
                          <a:effectLst/>
                        </a:rPr>
                        <a:t>Decision Tree</a:t>
                      </a:r>
                      <a:endParaRPr lang="en-PK" sz="11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200">
                          <a:effectLst/>
                        </a:rPr>
                        <a:t>0.7974</a:t>
                      </a:r>
                      <a:endParaRPr lang="en-PK" sz="11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674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200">
                          <a:effectLst/>
                        </a:rPr>
                        <a:t>Random Forest</a:t>
                      </a:r>
                      <a:endParaRPr lang="en-PK" sz="11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200">
                          <a:effectLst/>
                        </a:rPr>
                        <a:t>0.8917</a:t>
                      </a:r>
                      <a:endParaRPr lang="en-PK" sz="11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3918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200" dirty="0">
                          <a:effectLst/>
                        </a:rPr>
                        <a:t>Gaussian Naive Bayes</a:t>
                      </a:r>
                      <a:endParaRPr lang="en-PK" sz="11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PK" sz="1200" dirty="0">
                          <a:effectLst/>
                        </a:rPr>
                        <a:t>0.9150</a:t>
                      </a:r>
                      <a:endParaRPr lang="en-PK" sz="11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71347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5C7EFEC-44DC-4CF8-86E5-5E42A3A317CC}"/>
              </a:ext>
            </a:extLst>
          </p:cNvPr>
          <p:cNvSpPr txBox="1"/>
          <p:nvPr/>
        </p:nvSpPr>
        <p:spPr>
          <a:xfrm>
            <a:off x="2278566" y="1168799"/>
            <a:ext cx="4586868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PK" sz="1800" b="1" dirty="0">
                <a:solidFill>
                  <a:srgbClr val="1F376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PK" sz="1800" b="1" dirty="0">
                <a:solidFill>
                  <a:srgbClr val="1F376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PK" sz="1800" b="1" dirty="0">
                <a:solidFill>
                  <a:srgbClr val="1F376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Results</a:t>
            </a:r>
            <a:endParaRPr lang="en-PK" sz="1800" b="1" dirty="0">
              <a:solidFill>
                <a:srgbClr val="1F3763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59D4C-BE3E-425B-A394-5D61D2CC71DF}"/>
              </a:ext>
            </a:extLst>
          </p:cNvPr>
          <p:cNvSpPr txBox="1"/>
          <p:nvPr/>
        </p:nvSpPr>
        <p:spPr>
          <a:xfrm>
            <a:off x="2278566" y="2959774"/>
            <a:ext cx="4586868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PK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Cross </a:t>
            </a:r>
            <a:r>
              <a:rPr lang="en-PK" sz="1800" b="1" dirty="0">
                <a:effectLst/>
                <a:ea typeface="Times New Roman" panose="02020603050405020304" pitchFamily="18" charset="0"/>
              </a:rPr>
              <a:t>Validation</a:t>
            </a:r>
            <a:r>
              <a:rPr lang="en-PK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Results</a:t>
            </a:r>
          </a:p>
        </p:txBody>
      </p:sp>
    </p:spTree>
    <p:extLst>
      <p:ext uri="{BB962C8B-B14F-4D97-AF65-F5344CB8AC3E}">
        <p14:creationId xmlns:p14="http://schemas.microsoft.com/office/powerpoint/2010/main" val="158764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307BD-0C22-4277-8320-82351B342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8615" y="904407"/>
            <a:ext cx="6283782" cy="36395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Critical</a:t>
            </a:r>
            <a:r>
              <a:rPr lang="en-US" b="1" dirty="0"/>
              <a:t> </a:t>
            </a:r>
            <a:r>
              <a:rPr lang="en-US" b="1" dirty="0">
                <a:effectLst/>
              </a:rPr>
              <a:t>Analysis</a:t>
            </a:r>
            <a:br>
              <a:rPr lang="en-US" b="1" dirty="0"/>
            </a:br>
            <a:endParaRPr lang="aa-ET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07FE87D-B5F8-449A-B64F-39D0826A7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b="1" dirty="0"/>
              <a:t>Gaussian NB Performed Best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Highest Recall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Highest Cross Validation Recall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Better identification of revenue-generating customers</a:t>
            </a:r>
          </a:p>
          <a:p>
            <a:endParaRPr lang="aa-ET" sz="1800" dirty="0"/>
          </a:p>
        </p:txBody>
      </p:sp>
    </p:spTree>
    <p:extLst>
      <p:ext uri="{BB962C8B-B14F-4D97-AF65-F5344CB8AC3E}">
        <p14:creationId xmlns:p14="http://schemas.microsoft.com/office/powerpoint/2010/main" val="3102807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Thank you blue Vectors - Download Free High-Quality Vectors from Freepik | 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6440" y="60960"/>
            <a:ext cx="7147560" cy="5082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751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</Words>
  <Application>Microsoft Office PowerPoint</Application>
  <PresentationFormat>On-screen Show (16:9)</PresentationFormat>
  <Paragraphs>119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Project Name: REVENUE GENERATION ANALYSIS  ON E-COMMERCE WEBSITE by Student Name: Ayesha Nafis SAP ID: 70189383</vt:lpstr>
      <vt:lpstr>Project Introduction</vt:lpstr>
      <vt:lpstr>Project Objective</vt:lpstr>
      <vt:lpstr>Dataset Overview</vt:lpstr>
      <vt:lpstr>Data Preprocessing</vt:lpstr>
      <vt:lpstr>Exploratory Data Analysis (EDA)</vt:lpstr>
      <vt:lpstr>Feature Engineering</vt:lpstr>
      <vt:lpstr>Pipeline of the Project</vt:lpstr>
      <vt:lpstr>Feature Selection</vt:lpstr>
      <vt:lpstr>Machine Learning Models</vt:lpstr>
      <vt:lpstr>Results</vt:lpstr>
      <vt:lpstr>Critical Analysis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2026-06-08T18:59:46Z</dcterms:modified>
</cp:coreProperties>
</file>